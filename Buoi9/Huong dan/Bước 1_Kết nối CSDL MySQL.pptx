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C8752-8381-4BC3-82D3-40BC2B834135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D1167-7D97-4C4F-A6DA-68B3B0BC2FFA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111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C8752-8381-4BC3-82D3-40BC2B834135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D1167-7D97-4C4F-A6DA-68B3B0BC2F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6272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C8752-8381-4BC3-82D3-40BC2B834135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D1167-7D97-4C4F-A6DA-68B3B0BC2FFA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593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C8752-8381-4BC3-82D3-40BC2B834135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D1167-7D97-4C4F-A6DA-68B3B0BC2F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915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C8752-8381-4BC3-82D3-40BC2B834135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D1167-7D97-4C4F-A6DA-68B3B0BC2F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266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C8752-8381-4BC3-82D3-40BC2B834135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D1167-7D97-4C4F-A6DA-68B3B0BC2F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082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C8752-8381-4BC3-82D3-40BC2B834135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D1167-7D97-4C4F-A6DA-68B3B0BC2F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113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26C8752-8381-4BC3-82D3-40BC2B834135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0D1167-7D97-4C4F-A6DA-68B3B0BC2F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7709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C8752-8381-4BC3-82D3-40BC2B834135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D1167-7D97-4C4F-A6DA-68B3B0BC2F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8880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C8752-8381-4BC3-82D3-40BC2B834135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D1167-7D97-4C4F-A6DA-68B3B0BC2F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6658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C8752-8381-4BC3-82D3-40BC2B834135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D1167-7D97-4C4F-A6DA-68B3B0BC2F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4210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26C8752-8381-4BC3-82D3-40BC2B834135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D0D1167-7D97-4C4F-A6DA-68B3B0BC2FFA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2421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/phpmyadmi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/phpmyadmi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CSDL MySQL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5858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Tạo</a:t>
            </a:r>
            <a:r>
              <a:rPr lang="en-US" dirty="0" smtClean="0"/>
              <a:t> database 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1857880"/>
            <a:ext cx="10058400" cy="4016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http://localhost/phpmyadmin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  <a:tabLst/>
            </a:pP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nhấn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nút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Admin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MySQL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xampp</a:t>
            </a:r>
            <a:endParaRPr lang="en-US" altLang="en-US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 typeface="+mj-lt"/>
              <a:buAutoNum type="arabicPeriod" startAt="2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Nhấn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nút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New 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1 database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mới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đặt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tên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bikego</a:t>
            </a:r>
            <a:endParaRPr kumimoji="0" lang="en-US" altLang="en-US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Nên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None/>
              <a:tabLst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Collation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utf8mb4_general_ci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utf8mb4_unicode_ci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31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2. </a:t>
            </a:r>
            <a:r>
              <a:rPr lang="en-GB" dirty="0" err="1" smtClean="0"/>
              <a:t>Sửa</a:t>
            </a:r>
            <a:r>
              <a:rPr lang="en-GB" dirty="0" smtClean="0"/>
              <a:t> </a:t>
            </a:r>
            <a:r>
              <a:rPr lang="en-GB" dirty="0" err="1"/>
              <a:t>cấu</a:t>
            </a:r>
            <a:r>
              <a:rPr lang="en-GB" dirty="0"/>
              <a:t> </a:t>
            </a:r>
            <a:r>
              <a:rPr lang="en-GB" dirty="0" err="1"/>
              <a:t>hình</a:t>
            </a:r>
            <a:r>
              <a:rPr lang="en-GB" dirty="0"/>
              <a:t> database </a:t>
            </a:r>
            <a:r>
              <a:rPr lang="en-GB" dirty="0" err="1"/>
              <a:t>trong</a:t>
            </a:r>
            <a:r>
              <a:rPr lang="en-GB" dirty="0"/>
              <a:t> .</a:t>
            </a:r>
            <a:r>
              <a:rPr lang="en-GB" dirty="0" err="1"/>
              <a:t>env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4437"/>
          </a:xfrm>
        </p:spPr>
        <p:txBody>
          <a:bodyPr>
            <a:normAutofit/>
          </a:bodyPr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project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i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en-US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:\xampp\htdocs\bikego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 .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VS Code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Notepad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++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</a:pP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đoạn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này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i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DB_CONNECTION=</a:t>
            </a:r>
            <a:r>
              <a:rPr lang="en-US" altLang="en-US" i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sqlite</a:t>
            </a:r>
            <a:r>
              <a:rPr lang="en-US" altLang="en-US" i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en-US" i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hoặc</a:t>
            </a:r>
            <a:r>
              <a:rPr lang="en-US" altLang="en-US" i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i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altLang="en-US" i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i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1008560" lvl="5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DB_CONNECTION=</a:t>
            </a:r>
            <a:r>
              <a:rPr lang="en-US" altLang="en-US" sz="2000" i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altLang="en-US" sz="2000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sz="2000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DB_HOST=127.0.0.1</a:t>
            </a:r>
            <a:br>
              <a:rPr lang="en-US" altLang="en-US" sz="2000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DB_PORT=3306</a:t>
            </a:r>
            <a:br>
              <a:rPr lang="en-US" altLang="en-US" sz="2000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DB_DATABASE=</a:t>
            </a:r>
            <a:r>
              <a:rPr lang="en-US" altLang="en-US" sz="2000" i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bikego</a:t>
            </a:r>
            <a:r>
              <a:rPr lang="en-US" altLang="en-US" sz="2000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sz="2000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DB_USERNAME=root</a:t>
            </a:r>
            <a:br>
              <a:rPr lang="en-US" altLang="en-US" sz="2000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DB_PASSWORD=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844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3. Reset </a:t>
            </a:r>
            <a:r>
              <a:rPr lang="en-GB" dirty="0"/>
              <a:t>cache </a:t>
            </a:r>
            <a:r>
              <a:rPr lang="en-GB" dirty="0" err="1"/>
              <a:t>config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</a:t>
            </a:r>
            <a:r>
              <a:rPr lang="en-GB" dirty="0" err="1"/>
              <a:t>Laravel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5794" y="1840648"/>
            <a:ext cx="5373189" cy="3990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cmd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thư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project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Tx/>
              <a:buNone/>
            </a:pPr>
            <a:r>
              <a:rPr lang="en-US" altLang="en-US" baseline="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2000" i="1" baseline="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 /d</a:t>
            </a:r>
            <a:r>
              <a:rPr lang="en-US" altLang="en-US" sz="2000" i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c:\xampp\htdocs\bikego</a:t>
            </a:r>
            <a:endParaRPr lang="en-US" altLang="en-US" sz="2000" i="1" baseline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Chạy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reset </a:t>
            </a:r>
            <a:r>
              <a:rPr kumimoji="0" lang="en-US" altLang="en-US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.</a:t>
            </a:r>
            <a:r>
              <a:rPr kumimoji="0" lang="en-US" altLang="en-US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env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artisan 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config:clear</a:t>
            </a:r>
            <a:endParaRPr kumimoji="0" lang="en-US" altLang="en-US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 typeface="+mj-lt"/>
              <a:buAutoNum type="arabicPeriod" startAt="3"/>
              <a:tabLst/>
            </a:pP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nối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CSDL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000" b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kumimoji="0" lang="en-US" altLang="en-US" sz="2000" b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xampp</a:t>
            </a:r>
            <a:r>
              <a:rPr kumimoji="0" lang="en-US" altLang="en-US" sz="2000" b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kumimoji="0" lang="en-US" altLang="en-US" sz="2000" b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endParaRPr kumimoji="0" lang="en-US" altLang="en-US" sz="2000" b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aseline="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Gõ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cmd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  <a:p>
            <a:pPr marL="384048" lvl="2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Tx/>
              <a:buNone/>
            </a:pP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2000" i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en-US" altLang="en-US" sz="2000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artisan </a:t>
            </a:r>
            <a:r>
              <a:rPr lang="en-US" altLang="en-US" sz="2000" i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migrate</a:t>
            </a:r>
          </a:p>
          <a:p>
            <a:pPr marL="384048" lvl="2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Tx/>
              <a:buNone/>
            </a:pPr>
            <a:r>
              <a:rPr kumimoji="0" lang="en-US" altLang="en-US" sz="2000" b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thấy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hiển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báo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thấy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ok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kumimoji="0" lang="en-US" altLang="en-US" sz="2000" b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264" y="3443026"/>
            <a:ext cx="7149736" cy="280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75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endParaRPr lang="en-GB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err="1" smtClean="0"/>
              <a:t>Phần</a:t>
            </a:r>
            <a:r>
              <a:rPr lang="en-US" b="1" dirty="0" smtClean="0"/>
              <a:t> </a:t>
            </a:r>
            <a:r>
              <a:rPr lang="en-US" b="1" dirty="0" err="1" smtClean="0"/>
              <a:t>này</a:t>
            </a:r>
            <a:r>
              <a:rPr lang="en-US" b="1" dirty="0" smtClean="0"/>
              <a:t> </a:t>
            </a:r>
            <a:r>
              <a:rPr lang="en-US" b="1" dirty="0" err="1" smtClean="0"/>
              <a:t>đọc</a:t>
            </a:r>
            <a:r>
              <a:rPr lang="en-US" b="1" dirty="0" smtClean="0"/>
              <a:t> qua </a:t>
            </a:r>
            <a:r>
              <a:rPr lang="en-US" b="1" dirty="0" err="1" smtClean="0"/>
              <a:t>để</a:t>
            </a:r>
            <a:r>
              <a:rPr lang="en-US" b="1" dirty="0" smtClean="0"/>
              <a:t> </a:t>
            </a:r>
            <a:r>
              <a:rPr lang="en-US" b="1" dirty="0" err="1" smtClean="0"/>
              <a:t>hiểu</a:t>
            </a:r>
            <a:r>
              <a:rPr lang="en-US" b="1" dirty="0" smtClean="0"/>
              <a:t> </a:t>
            </a:r>
            <a:r>
              <a:rPr lang="en-US" b="1" dirty="0" err="1" smtClean="0"/>
              <a:t>mình</a:t>
            </a:r>
            <a:r>
              <a:rPr lang="en-US" b="1" dirty="0" smtClean="0"/>
              <a:t> </a:t>
            </a:r>
            <a:r>
              <a:rPr lang="en-US" b="1" dirty="0" err="1" smtClean="0"/>
              <a:t>cần</a:t>
            </a:r>
            <a:r>
              <a:rPr lang="en-US" b="1" dirty="0" smtClean="0"/>
              <a:t> </a:t>
            </a:r>
            <a:r>
              <a:rPr lang="en-US" b="1" dirty="0" err="1" smtClean="0"/>
              <a:t>làm</a:t>
            </a:r>
            <a:r>
              <a:rPr lang="en-US" b="1" dirty="0" smtClean="0"/>
              <a:t> </a:t>
            </a:r>
            <a:r>
              <a:rPr lang="en-US" b="1" dirty="0" err="1" smtClean="0"/>
              <a:t>gì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303920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vi-VN" b="1" dirty="0"/>
              <a:t>Phần người dùng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2000" dirty="0"/>
              <a:t>Đăng ký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2000" dirty="0"/>
              <a:t>Đăng nhập / đăng xuất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2000" dirty="0"/>
              <a:t>Xem trang chủ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2000" dirty="0"/>
              <a:t>Xem danh sách trạm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2000" dirty="0"/>
              <a:t>Xem danh sách xe ở trạm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2000" dirty="0"/>
              <a:t>Thuê xe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2000" dirty="0"/>
              <a:t>Trả xe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2000" dirty="0"/>
              <a:t>Xem lịch sử </a:t>
            </a:r>
            <a:r>
              <a:rPr lang="vi-VN" sz="2000" dirty="0" smtClean="0"/>
              <a:t>thuê</a:t>
            </a:r>
            <a:endParaRPr lang="en-US" sz="2000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Đánh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Comment</a:t>
            </a:r>
            <a:endParaRPr lang="vi-V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217920" y="1845734"/>
            <a:ext cx="4937760" cy="4467979"/>
          </a:xfrm>
        </p:spPr>
        <p:txBody>
          <a:bodyPr>
            <a:normAutofit/>
          </a:bodyPr>
          <a:lstStyle/>
          <a:p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kê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Top 10 bikers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Top 10 stations</a:t>
            </a:r>
          </a:p>
          <a:p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admin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station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bicycle</a:t>
            </a:r>
          </a:p>
          <a:p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station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bicycle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rental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review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station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bicycle)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259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Chi </a:t>
            </a:r>
            <a:r>
              <a:rPr lang="en-US" dirty="0" err="1" smtClean="0"/>
              <a:t>tiết</a:t>
            </a:r>
            <a:r>
              <a:rPr lang="en-US" dirty="0" smtClean="0"/>
              <a:t> </a:t>
            </a:r>
            <a:r>
              <a:rPr lang="en-US" dirty="0" err="1" smtClean="0"/>
              <a:t>bảng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endParaRPr lang="en-GB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1097280" y="1845735"/>
            <a:ext cx="4998721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Laravel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sẵn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này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cột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</a:t>
            </a: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ame</a:t>
            </a: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phone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email</a:t>
            </a: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password</a:t>
            </a: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role</a:t>
            </a: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role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biệt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admin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sz="half" idx="2"/>
          </p:nvPr>
        </p:nvSpPr>
        <p:spPr bwMode="auto">
          <a:xfrm>
            <a:off x="6096001" y="1845735"/>
            <a:ext cx="589134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Bảng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stations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Lưu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thông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trạm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cột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			#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Mã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xe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station_name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#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Tên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trạm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address		#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Địa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chỉ</a:t>
            </a:r>
            <a:endParaRPr kumimoji="0" lang="en-US" altLang="en-US" sz="2000" b="0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ward		#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Phường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xã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total_docks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#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Số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chỗ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đậu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xe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status		#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Tình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trạng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trạm</a:t>
            </a:r>
            <a:endParaRPr kumimoji="0" lang="en-US" altLang="en-US" sz="2000" b="0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baseline="0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delete_at</a:t>
            </a:r>
            <a:r>
              <a:rPr lang="en-US" altLang="en-US" sz="2000" baseline="0" dirty="0" smtClean="0">
                <a:solidFill>
                  <a:schemeClr val="tx1"/>
                </a:solidFill>
                <a:latin typeface="Arial" panose="020B0604020202020204" pitchFamily="34" charset="0"/>
              </a:rPr>
              <a:t>		# </a:t>
            </a:r>
            <a:r>
              <a:rPr lang="en-US" altLang="en-US" sz="2000" baseline="0" dirty="0" smtClean="0">
                <a:solidFill>
                  <a:schemeClr val="tx1"/>
                </a:solidFill>
                <a:latin typeface="Arial" panose="020B0604020202020204" pitchFamily="34" charset="0"/>
              </a:rPr>
              <a:t>Cho </a:t>
            </a:r>
            <a:r>
              <a:rPr lang="en-US" altLang="en-US" sz="2000" baseline="0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phép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 soft-delete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288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1097280" y="1845735"/>
            <a:ext cx="4981304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bicycles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Lưu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trữ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danh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sách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xe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đạp</a:t>
            </a:r>
            <a:endParaRPr lang="en-US" altLang="en-US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Các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cột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  <a:p>
            <a:pPr marL="578358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Arial Unicode MS"/>
              </a:rPr>
              <a:t>id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578358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bike_code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		#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Mã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xe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đạp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578358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 err="1">
                <a:solidFill>
                  <a:schemeClr val="tx1"/>
                </a:solidFill>
                <a:latin typeface="Arial Unicode MS"/>
              </a:rPr>
              <a:t>station_id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  <a:r>
              <a:rPr lang="en-US" altLang="en-US" sz="2000" i="1" dirty="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en-US" altLang="en-US" sz="2000" i="1" dirty="0" err="1">
                <a:solidFill>
                  <a:schemeClr val="tx1"/>
                </a:solidFill>
                <a:latin typeface="Arial" panose="020B0604020202020204" pitchFamily="34" charset="0"/>
              </a:rPr>
              <a:t>nullable</a:t>
            </a:r>
            <a:r>
              <a:rPr lang="en-US" altLang="en-US" sz="2000" i="1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000" i="1" dirty="0" err="1">
                <a:solidFill>
                  <a:schemeClr val="tx1"/>
                </a:solidFill>
                <a:latin typeface="Arial" panose="020B0604020202020204" pitchFamily="34" charset="0"/>
              </a:rPr>
              <a:t>vì</a:t>
            </a:r>
            <a:r>
              <a:rPr lang="en-US" altLang="en-US" sz="2000" i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i="1" dirty="0" err="1">
                <a:solidFill>
                  <a:schemeClr val="tx1"/>
                </a:solidFill>
                <a:latin typeface="Arial" panose="020B0604020202020204" pitchFamily="34" charset="0"/>
              </a:rPr>
              <a:t>nếu</a:t>
            </a:r>
            <a:r>
              <a:rPr lang="en-US" altLang="en-US" sz="2000" i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i="1" dirty="0" err="1">
                <a:solidFill>
                  <a:schemeClr val="tx1"/>
                </a:solidFill>
                <a:latin typeface="Arial" panose="020B0604020202020204" pitchFamily="34" charset="0"/>
              </a:rPr>
              <a:t>đang</a:t>
            </a:r>
            <a:r>
              <a:rPr lang="en-US" altLang="en-US" sz="2000" i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i="1" dirty="0" err="1">
                <a:solidFill>
                  <a:schemeClr val="tx1"/>
                </a:solidFill>
                <a:latin typeface="Arial" panose="020B0604020202020204" pitchFamily="34" charset="0"/>
              </a:rPr>
              <a:t>được</a:t>
            </a:r>
            <a:r>
              <a:rPr lang="en-US" altLang="en-US" sz="2000" i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i="1" dirty="0" err="1">
                <a:solidFill>
                  <a:schemeClr val="tx1"/>
                </a:solidFill>
                <a:latin typeface="Arial" panose="020B0604020202020204" pitchFamily="34" charset="0"/>
              </a:rPr>
              <a:t>thuê</a:t>
            </a:r>
            <a:r>
              <a:rPr lang="en-US" altLang="en-US" sz="2000" i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i="1" dirty="0" err="1">
                <a:solidFill>
                  <a:schemeClr val="tx1"/>
                </a:solidFill>
                <a:latin typeface="Arial" panose="020B0604020202020204" pitchFamily="34" charset="0"/>
              </a:rPr>
              <a:t>thì</a:t>
            </a:r>
            <a:r>
              <a:rPr lang="en-US" altLang="en-US" sz="2000" i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i="1" dirty="0" err="1">
                <a:solidFill>
                  <a:schemeClr val="tx1"/>
                </a:solidFill>
                <a:latin typeface="Arial" panose="020B0604020202020204" pitchFamily="34" charset="0"/>
              </a:rPr>
              <a:t>có</a:t>
            </a:r>
            <a:r>
              <a:rPr lang="en-US" altLang="en-US" sz="2000" i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i="1" dirty="0" err="1">
                <a:solidFill>
                  <a:schemeClr val="tx1"/>
                </a:solidFill>
                <a:latin typeface="Arial" panose="020B0604020202020204" pitchFamily="34" charset="0"/>
              </a:rPr>
              <a:t>thể</a:t>
            </a:r>
            <a:r>
              <a:rPr lang="en-US" altLang="en-US" sz="2000" i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i="1" dirty="0" err="1">
                <a:solidFill>
                  <a:schemeClr val="tx1"/>
                </a:solidFill>
                <a:latin typeface="Arial" panose="020B0604020202020204" pitchFamily="34" charset="0"/>
              </a:rPr>
              <a:t>chưa</a:t>
            </a:r>
            <a:r>
              <a:rPr lang="en-US" altLang="en-US" sz="2000" i="1" dirty="0">
                <a:solidFill>
                  <a:schemeClr val="tx1"/>
                </a:solidFill>
                <a:latin typeface="Arial" panose="020B0604020202020204" pitchFamily="34" charset="0"/>
              </a:rPr>
              <a:t> ở </a:t>
            </a:r>
            <a:r>
              <a:rPr lang="en-US" altLang="en-US" sz="2000" i="1" dirty="0" err="1">
                <a:solidFill>
                  <a:schemeClr val="tx1"/>
                </a:solidFill>
                <a:latin typeface="Arial" panose="020B0604020202020204" pitchFamily="34" charset="0"/>
              </a:rPr>
              <a:t>trạm</a:t>
            </a:r>
            <a:r>
              <a:rPr lang="en-US" altLang="en-US" sz="2000" i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i="1" dirty="0" err="1">
                <a:solidFill>
                  <a:schemeClr val="tx1"/>
                </a:solidFill>
                <a:latin typeface="Arial" panose="020B0604020202020204" pitchFamily="34" charset="0"/>
              </a:rPr>
              <a:t>nào</a:t>
            </a:r>
            <a:r>
              <a:rPr lang="en-US" altLang="en-US" sz="2000" i="1" dirty="0" smtClean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</a:p>
          <a:p>
            <a:pPr marL="578358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GB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rental_price_per_hour</a:t>
            </a:r>
            <a:r>
              <a:rPr lang="en-GB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GB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GB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thuê</a:t>
            </a:r>
            <a:r>
              <a:rPr lang="en-GB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xe</a:t>
            </a:r>
            <a:r>
              <a:rPr lang="en-GB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1 </a:t>
            </a:r>
            <a:r>
              <a:rPr lang="en-GB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giờ</a:t>
            </a:r>
            <a:r>
              <a:rPr lang="en-GB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8358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 err="1">
                <a:solidFill>
                  <a:schemeClr val="tx1"/>
                </a:solidFill>
                <a:latin typeface="Arial Unicode MS"/>
              </a:rPr>
              <a:t>location_status</a:t>
            </a:r>
            <a:r>
              <a:rPr lang="en-US" altLang="en-US" sz="2000" dirty="0">
                <a:solidFill>
                  <a:schemeClr val="tx1"/>
                </a:solidFill>
              </a:rPr>
              <a:t> → </a:t>
            </a:r>
            <a:r>
              <a:rPr lang="en-US" altLang="en-US" sz="2000" dirty="0" err="1">
                <a:solidFill>
                  <a:schemeClr val="tx1"/>
                </a:solidFill>
                <a:latin typeface="Arial Unicode MS"/>
              </a:rPr>
              <a:t>at_station</a:t>
            </a:r>
            <a:r>
              <a:rPr lang="en-US" altLang="en-US" sz="2000" dirty="0">
                <a:solidFill>
                  <a:schemeClr val="tx1"/>
                </a:solidFill>
              </a:rPr>
              <a:t>, </a:t>
            </a:r>
            <a:r>
              <a:rPr lang="en-US" altLang="en-US" sz="2000" dirty="0">
                <a:solidFill>
                  <a:schemeClr val="tx1"/>
                </a:solidFill>
                <a:latin typeface="Arial Unicode MS"/>
              </a:rPr>
              <a:t>rented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578358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 err="1">
                <a:solidFill>
                  <a:schemeClr val="tx1"/>
                </a:solidFill>
                <a:latin typeface="Arial Unicode MS"/>
              </a:rPr>
              <a:t>condition_status</a:t>
            </a:r>
            <a:r>
              <a:rPr lang="en-US" altLang="en-US" sz="2000" dirty="0">
                <a:solidFill>
                  <a:schemeClr val="tx1"/>
                </a:solidFill>
              </a:rPr>
              <a:t> → 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active</a:t>
            </a:r>
            <a:r>
              <a:rPr lang="en-US" altLang="en-US" sz="2000" dirty="0" smtClean="0">
                <a:solidFill>
                  <a:schemeClr val="tx1"/>
                </a:solidFill>
              </a:rPr>
              <a:t>, 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inactive</a:t>
            </a:r>
            <a:endParaRPr lang="en-US" altLang="en-US" sz="2000" dirty="0" smtClean="0">
              <a:solidFill>
                <a:schemeClr val="tx1"/>
              </a:solidFill>
              <a:latin typeface="Arial Unicode MS"/>
            </a:endParaRPr>
          </a:p>
          <a:p>
            <a:pPr marL="578358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delete_at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sz="half" idx="2"/>
          </p:nvPr>
        </p:nvSpPr>
        <p:spPr bwMode="auto">
          <a:xfrm>
            <a:off x="6078584" y="1845735"/>
            <a:ext cx="6113416" cy="440120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Bảng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rentals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L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ưu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lịch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sử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thuê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xe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cột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Arial Unicode MS"/>
              </a:rPr>
              <a:t>id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user_id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		# </a:t>
            </a:r>
            <a:r>
              <a:rPr lang="en-US" altLang="en-US" sz="2000" dirty="0" err="1">
                <a:solidFill>
                  <a:schemeClr val="tx1"/>
                </a:solidFill>
                <a:latin typeface="Arial Unicode MS"/>
              </a:rPr>
              <a:t>N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gười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thuê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xe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bicycle_id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		#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Mã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xe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đạp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rent_station_id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	#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Mượn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xe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tại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trạm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 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return_station_id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 	#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Trả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xe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tại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trạm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rented_at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		#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Giờ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mượn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xe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returned_at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	#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Giờ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trả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xe</a:t>
            </a:r>
            <a:endParaRPr lang="en-US" altLang="en-US" sz="2000" dirty="0" smtClean="0">
              <a:solidFill>
                <a:schemeClr val="tx1"/>
              </a:solidFill>
              <a:latin typeface="Arial Unicode MS"/>
            </a:endParaRP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GB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price_per_hour</a:t>
            </a:r>
            <a:r>
              <a:rPr lang="en-GB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# </a:t>
            </a:r>
            <a:r>
              <a:rPr lang="en-GB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GB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thuê</a:t>
            </a:r>
            <a:r>
              <a:rPr lang="en-GB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xe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total_hours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	#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Tổng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số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giờ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mượn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total_amount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	#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Tổng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tiền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cần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thanh</a:t>
            </a:r>
            <a:r>
              <a:rPr lang="en-US" altLang="en-US" sz="2000" dirty="0" smtClean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Unicode MS"/>
              </a:rPr>
              <a:t>toán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855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(</a:t>
            </a:r>
            <a:r>
              <a:rPr lang="en-US" dirty="0" err="1"/>
              <a:t>tt</a:t>
            </a:r>
            <a:r>
              <a:rPr lang="en-US" dirty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station_reviews</a:t>
            </a:r>
            <a:endParaRPr lang="en-GB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Đánh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trạm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cột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id</a:t>
            </a: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user_id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station_id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rating</a:t>
            </a: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comment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bicycle_reviews</a:t>
            </a:r>
            <a:endParaRPr lang="en-GB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Đánh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đạp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cột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</a:t>
            </a: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user_id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bicycle_id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rating</a:t>
            </a:r>
          </a:p>
          <a:p>
            <a:pPr marL="635508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8014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Tạo</a:t>
            </a:r>
            <a:r>
              <a:rPr lang="en-US" dirty="0" smtClean="0"/>
              <a:t> CSDL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8527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bảng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40526" y="1805211"/>
            <a:ext cx="10964091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CMD,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thư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project: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cd /d c:\xampp\htdocs\bikego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Chạy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578358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artisan 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make:migration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create_stations_table</a:t>
            </a:r>
            <a:endParaRPr kumimoji="0" lang="en-US" altLang="en-US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78358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artisan 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make:migration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create_bicycles_table</a:t>
            </a:r>
            <a:endParaRPr kumimoji="0" lang="en-US" altLang="en-US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78358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artisan 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make:migration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create_rentals_table</a:t>
            </a:r>
            <a:endParaRPr kumimoji="0" lang="en-US" altLang="en-US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78358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artisan 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make:migration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create_station_reviews_table</a:t>
            </a:r>
            <a:endParaRPr kumimoji="0" lang="en-US" altLang="en-US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78358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artisan 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make:migration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create_bicycle_reviews_table</a:t>
            </a:r>
            <a:endParaRPr kumimoji="0" lang="en-US" altLang="en-US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78358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artisan 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make:migration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add_phone_and_role_to_users_table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--table=users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0" lang="en-US" altLang="en-US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chạy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xong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Laravel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database\migrations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Vào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0" lang="en-US" altLang="en-US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thư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0" lang="en-US" altLang="en-US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mục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C:\xampp\htdocs\bikego\database\migrations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0" lang="en-US" altLang="en-US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để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0" lang="en-US" altLang="en-US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kiểm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0" lang="en-US" altLang="en-US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tra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072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Sửa</a:t>
            </a:r>
            <a:r>
              <a:rPr lang="en-US" dirty="0" smtClean="0"/>
              <a:t> migration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từng</a:t>
            </a:r>
            <a:r>
              <a:rPr lang="en-US" dirty="0" smtClean="0"/>
              <a:t> </a:t>
            </a:r>
            <a:r>
              <a:rPr lang="en-US" dirty="0" err="1" smtClean="0"/>
              <a:t>bảng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2.1.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Sửa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station</a:t>
            </a:r>
            <a:endParaRPr lang="en-US" alt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Mở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file </a:t>
            </a:r>
            <a:r>
              <a:rPr lang="en-US" altLang="en-US" i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create_stations_table</a:t>
            </a:r>
            <a:r>
              <a:rPr lang="en-US" altLang="en-US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r>
              <a:rPr lang="en-US" altLang="en-US" i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en-US" altLang="en-US" dirty="0">
                <a:solidFill>
                  <a:schemeClr val="tx1"/>
                </a:solidFill>
              </a:rPr>
              <a:t>, </a:t>
            </a:r>
            <a:r>
              <a:rPr lang="en-US" altLang="en-US" dirty="0" smtClean="0">
                <a:solidFill>
                  <a:schemeClr val="tx1"/>
                </a:solidFill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sửa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hàm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>up()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thành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endParaRPr lang="en-US" altLang="en-US" dirty="0">
              <a:solidFill>
                <a:schemeClr val="tx1"/>
              </a:solidFill>
              <a:latin typeface="Arial Unicode MS"/>
            </a:endParaRPr>
          </a:p>
          <a:p>
            <a:endParaRPr lang="en-GB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157" y="2653272"/>
            <a:ext cx="6287273" cy="362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454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Sửa</a:t>
            </a:r>
            <a:r>
              <a:rPr lang="en-US" dirty="0" smtClean="0"/>
              <a:t> migration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từng</a:t>
            </a:r>
            <a:r>
              <a:rPr lang="en-US" dirty="0" smtClean="0"/>
              <a:t> </a:t>
            </a:r>
            <a:r>
              <a:rPr lang="en-US" dirty="0" err="1" smtClean="0"/>
              <a:t>bảng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2.2.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Sửa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bicycles</a:t>
            </a:r>
          </a:p>
          <a:p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altLang="en-US" i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create_bicycles_table</a:t>
            </a:r>
            <a:r>
              <a:rPr lang="en-US" altLang="en-US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r>
              <a:rPr lang="en-US" altLang="en-US" i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sửa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2749858"/>
            <a:ext cx="9493751" cy="360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20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Sửa</a:t>
            </a:r>
            <a:r>
              <a:rPr lang="en-US" dirty="0" smtClean="0"/>
              <a:t> migration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từng</a:t>
            </a:r>
            <a:r>
              <a:rPr lang="en-US" dirty="0" smtClean="0"/>
              <a:t> </a:t>
            </a:r>
            <a:r>
              <a:rPr lang="en-US" dirty="0" err="1" smtClean="0"/>
              <a:t>bảng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28800"/>
            <a:ext cx="10058400" cy="5029200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2.3.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Sửa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rentals</a:t>
            </a:r>
          </a:p>
          <a:p>
            <a:r>
              <a:rPr lang="en-US" altLang="en-US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alt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GB" sz="17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create_rentals_table</a:t>
            </a:r>
            <a:r>
              <a:rPr lang="en-GB" sz="1700" i="1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r>
              <a:rPr lang="en-GB" sz="17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en-US" alt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7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sửa</a:t>
            </a:r>
            <a:r>
              <a:rPr lang="en-US" alt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700" dirty="0" smtClean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endParaRPr lang="en-US" altLang="en-US" sz="1700" dirty="0" smtClean="0">
              <a:solidFill>
                <a:schemeClr val="tx1"/>
              </a:solidFill>
              <a:latin typeface="Arial Unicode M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2800134"/>
            <a:ext cx="9962971" cy="382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216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Sửa</a:t>
            </a:r>
            <a:r>
              <a:rPr lang="en-US" dirty="0" smtClean="0"/>
              <a:t> migration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từng</a:t>
            </a:r>
            <a:r>
              <a:rPr lang="en-US" dirty="0" smtClean="0"/>
              <a:t> </a:t>
            </a:r>
            <a:r>
              <a:rPr lang="en-US" dirty="0" err="1" smtClean="0"/>
              <a:t>bảng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7446"/>
            <a:ext cx="10241280" cy="4023360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2.4.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Sửa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station_reviews</a:t>
            </a:r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create_station_reviews_table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sửa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endParaRPr lang="en-US" altLang="en-US" dirty="0" smtClean="0">
              <a:solidFill>
                <a:schemeClr val="tx1"/>
              </a:solidFill>
              <a:latin typeface="Arial Unicode M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81703"/>
            <a:ext cx="9173676" cy="275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77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Sửa</a:t>
            </a:r>
            <a:r>
              <a:rPr lang="en-US" dirty="0" smtClean="0"/>
              <a:t> migration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từng</a:t>
            </a:r>
            <a:r>
              <a:rPr lang="en-US" dirty="0" smtClean="0"/>
              <a:t> </a:t>
            </a:r>
            <a:r>
              <a:rPr lang="en-US" dirty="0" err="1" smtClean="0"/>
              <a:t>bảng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27446"/>
            <a:ext cx="10899648" cy="4023360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2.5.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Sửa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bicycle_reviews</a:t>
            </a:r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create_bicycle_reviews_table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sửa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endParaRPr lang="en-US" altLang="en-US" dirty="0" smtClean="0">
              <a:solidFill>
                <a:schemeClr val="tx1"/>
              </a:solidFill>
              <a:latin typeface="Arial Unicode M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757887"/>
            <a:ext cx="9337934" cy="288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894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Sửa</a:t>
            </a:r>
            <a:r>
              <a:rPr lang="en-US" dirty="0" smtClean="0"/>
              <a:t> migration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từng</a:t>
            </a:r>
            <a:r>
              <a:rPr lang="en-US" dirty="0" smtClean="0"/>
              <a:t> </a:t>
            </a:r>
            <a:r>
              <a:rPr lang="en-US" dirty="0" err="1" smtClean="0"/>
              <a:t>bảng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056" y="1827446"/>
            <a:ext cx="11548872" cy="4847674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2.6.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phone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role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users </a:t>
            </a:r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add_phone_and_role_to_users_table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sửa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endParaRPr lang="en-US" altLang="en-US" dirty="0" smtClean="0">
              <a:solidFill>
                <a:schemeClr val="tx1"/>
              </a:solidFill>
              <a:latin typeface="Arial Unicode M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2793754"/>
            <a:ext cx="9448998" cy="21074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4901182"/>
            <a:ext cx="7585568" cy="177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394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</a:t>
            </a:r>
            <a:r>
              <a:rPr lang="en-US" dirty="0" err="1" smtClean="0"/>
              <a:t>Chạy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bảng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cmd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thư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bikego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1168" lvl="1" indent="0">
              <a:buNone/>
            </a:pPr>
            <a:r>
              <a:rPr lang="en-US" sz="2000" dirty="0" smtClean="0"/>
              <a:t>	</a:t>
            </a:r>
            <a:r>
              <a:rPr lang="en-US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cd /d C:\xampp/htdocs/bikego</a:t>
            </a:r>
          </a:p>
          <a:p>
            <a:pPr marL="201168" lvl="1" indent="0">
              <a:buNone/>
            </a:pPr>
            <a:endParaRPr lang="en-US" sz="20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5760" indent="-457200">
              <a:buFont typeface="+mj-lt"/>
              <a:buAutoNum type="arabicPeriod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Chạy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artisan 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migrate:fresh</a:t>
            </a:r>
            <a:endParaRPr lang="en-US" i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i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ts val="600"/>
              </a:spcBef>
              <a:buClrTx/>
              <a:buSzTx/>
              <a:buFont typeface="+mj-lt"/>
              <a:buAutoNum type="arabicPeriod" startAt="3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phpMyAdmin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web 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://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localhost/phpmyadmin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nhấn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nút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Admin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MySQL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xampp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Kiểm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tra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các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bảng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trong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CSDL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bikego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056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392</TotalTime>
  <Words>790</Words>
  <Application>Microsoft Office PowerPoint</Application>
  <PresentationFormat>Widescreen</PresentationFormat>
  <Paragraphs>167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 Unicode MS</vt:lpstr>
      <vt:lpstr>Calibri</vt:lpstr>
      <vt:lpstr>Calibri Light</vt:lpstr>
      <vt:lpstr>Courier New</vt:lpstr>
      <vt:lpstr>Symbol</vt:lpstr>
      <vt:lpstr>Wingdings</vt:lpstr>
      <vt:lpstr>Retrospect</vt:lpstr>
      <vt:lpstr>Kết nối CSDL MySQL</vt:lpstr>
      <vt:lpstr>1. Tạo database </vt:lpstr>
      <vt:lpstr>2. Sửa cấu hình database trong .env</vt:lpstr>
      <vt:lpstr>3. Reset cache config của Laravel</vt:lpstr>
      <vt:lpstr>Phân tích và thiết kế</vt:lpstr>
      <vt:lpstr>Danh sách chức năng</vt:lpstr>
      <vt:lpstr>Chi tiết bảng dữ liệu</vt:lpstr>
      <vt:lpstr>Chi tiết bảng dữ liệu (tt)</vt:lpstr>
      <vt:lpstr>Chi tiết bảng dữ liệu (tt)</vt:lpstr>
      <vt:lpstr>Tạo CSDL</vt:lpstr>
      <vt:lpstr>1. Tạo bảng</vt:lpstr>
      <vt:lpstr>2. Sửa migration cho từng bảng</vt:lpstr>
      <vt:lpstr>2. Sửa migration cho từng bảng (tt)</vt:lpstr>
      <vt:lpstr>2. Sửa migration cho từng bảng (tt)</vt:lpstr>
      <vt:lpstr>2. Sửa migration cho từng bảng (tt)</vt:lpstr>
      <vt:lpstr>2. Sửa migration cho từng bảng (tt)</vt:lpstr>
      <vt:lpstr>2. Sửa migration cho từng bảng (tt)</vt:lpstr>
      <vt:lpstr>3. Chạy lệnh tạo bảng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khanh le nguyen</dc:creator>
  <cp:lastModifiedBy>khanh le nguyen</cp:lastModifiedBy>
  <cp:revision>45</cp:revision>
  <dcterms:created xsi:type="dcterms:W3CDTF">2026-03-15T02:57:58Z</dcterms:created>
  <dcterms:modified xsi:type="dcterms:W3CDTF">2026-03-21T08:32:18Z</dcterms:modified>
</cp:coreProperties>
</file>